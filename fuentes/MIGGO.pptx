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3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38" d="100"/>
          <a:sy n="38" d="100"/>
        </p:scale>
        <p:origin x="1402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79E0C0-6368-7495-C3FB-F20DDE30B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FE0B7C-B78F-2E75-5543-4CDE3B8CA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9C9C5D-3A36-016E-9B5A-39804B69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2E28-F3D0-4F8A-94B0-DFA20EA5101E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DA3454-16B6-9445-E0A9-960ADF09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369329-E577-0393-126E-E4AECD16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290B-A848-4DE2-AF72-F684138756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8475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2FE38-10D4-A272-1936-71DE09EF6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D83D8E-20A5-7112-D1F5-8755FCAE8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E3E64D-79A9-A3BF-910F-AAF8D129E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2E28-F3D0-4F8A-94B0-DFA20EA5101E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AFDBFE-9A67-5F4B-B4CC-860CC60D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E7A35C-B821-3F9F-88BE-77926B96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290B-A848-4DE2-AF72-F684138756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3388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B202F-1A48-DDF1-256C-274E22AC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A21EB5-781B-6F17-D5F5-1A1984C63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F9DD1-0CD6-CB41-BA4A-D3A0BC7F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2E28-F3D0-4F8A-94B0-DFA20EA5101E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5B6F95-CD88-6350-273E-7410083E8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F5028D-9429-8FA7-3144-3FC28F19D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290B-A848-4DE2-AF72-F684138756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1283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8E145-93E4-0607-78E3-A5817F3CD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78148D-F2B1-7326-2200-85804D465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A2DBA7-FF89-E344-E3D8-08F80EC3A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F55F0A-C2CD-C785-2DD1-7890071B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2E28-F3D0-4F8A-94B0-DFA20EA5101E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C16084-A217-230B-C160-A40E98D8E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AFDC23-EE08-4B1B-B8E1-4DDF39FA7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290B-A848-4DE2-AF72-F684138756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652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088B98-96DD-C559-FC7C-3CCFF011A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4B1600-A85C-9396-5026-69A9B5575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74E62A-65D3-C12E-8F61-1E914A635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665661-74CE-FA4F-E8E9-FA64487B9E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58F7CA6-779A-C5E9-EC9D-A561C8A8A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BE30A00-DFFA-55FA-9CB0-C526C8F2F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2E28-F3D0-4F8A-94B0-DFA20EA5101E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E608461-20BA-ACEB-52F0-B21F4F05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57FEC11-EE2C-6752-8A5F-E98A76F5A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290B-A848-4DE2-AF72-F684138756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164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E9BAC-5572-B02E-CE6A-CB68AFF6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465E86-33CB-43EC-F905-DF1761526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2E28-F3D0-4F8A-94B0-DFA20EA5101E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33CBB7-57B7-37CD-9B11-E988E7F4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AB6B66-8CF2-8B10-4C77-8C16B0549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290B-A848-4DE2-AF72-F684138756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523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D319D8D-02F9-44C3-924D-497B03C3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2E28-F3D0-4F8A-94B0-DFA20EA5101E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E24760A-5912-33CE-DC5C-C7404E7C9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3FE1F1-2D67-D08C-217B-686690EC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290B-A848-4DE2-AF72-F684138756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248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567A1-8A20-E527-4504-23650E57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401111-C962-1086-6853-1F86B47AB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386D88-6E88-9537-27BF-76974A5ED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2AAF52-A086-92D2-6B61-751968B35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2E28-F3D0-4F8A-94B0-DFA20EA5101E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9989C8-454E-D232-F29F-08E9BE60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490942-5EE1-0375-38E1-24100A352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290B-A848-4DE2-AF72-F684138756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2775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55124-E7A5-D3E1-809F-5B762C39B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68C204A-4D69-0499-6051-D91E768AB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75C6D76-E4D7-75C5-86E8-0FF5773A1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384457-64E5-40FA-7CC1-BDAA5AD6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2E28-F3D0-4F8A-94B0-DFA20EA5101E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5C881C-9BF7-D553-182F-F66929D66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3A751F-1F02-9D6F-10D8-87AA08D8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290B-A848-4DE2-AF72-F684138756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003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86CAA-D180-7DC9-FB9D-9C95DDA6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706399-BF86-791C-8376-DE9DD7BFC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D1E6C-6213-D11A-F0D4-342B75CB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2E28-F3D0-4F8A-94B0-DFA20EA5101E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31AE0E-4F23-DD24-3891-5BB0DCD6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EC63BD-E44F-0CF6-FF50-7F794073F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290B-A848-4DE2-AF72-F684138756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217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07FFD0-CDC6-01DC-DB0D-5A8228CDAC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F87CE3-F595-835D-B6CA-7201DA76A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E24A91-05FB-4474-1134-7765161B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A2E28-F3D0-4F8A-94B0-DFA20EA5101E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5E07B4-B834-0807-282D-D13D86EE9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666AB3-D8B3-08BF-F00A-6BB6BF73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290B-A848-4DE2-AF72-F684138756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63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40376EC-A812-191A-8E3B-6ECA11D09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4B52E4-2DF6-5A6F-2BDE-37E86286A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F13218-AD1B-45CE-A161-B62B08912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A2E28-F3D0-4F8A-94B0-DFA20EA5101E}" type="datetimeFigureOut">
              <a:rPr lang="es-MX" smtClean="0"/>
              <a:t>23/02/2026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D6E087-E5C9-B3D5-2E2D-8D6B98EB6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B69EB3-C35F-8329-F281-68A2AC4B9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C290B-A848-4DE2-AF72-F684138756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8695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1A537-C6EC-7D90-D4E1-D383D7951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miggo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E9DA03-BFEE-2D56-CF29-48A875661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Sistema para administrar carteras</a:t>
            </a:r>
          </a:p>
        </p:txBody>
      </p:sp>
    </p:spTree>
    <p:extLst>
      <p:ext uri="{BB962C8B-B14F-4D97-AF65-F5344CB8AC3E}">
        <p14:creationId xmlns:p14="http://schemas.microsoft.com/office/powerpoint/2010/main" val="1838668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73B7B-190A-BA63-9F2E-780A7AD21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877251-91A9-B628-4CA1-F2CD4DF4C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68537A-9558-A379-8902-5971A545C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4" y="745778"/>
            <a:ext cx="11898086" cy="543118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D446451-B41A-F65B-6ED2-8E333DF91064}"/>
              </a:ext>
            </a:extLst>
          </p:cNvPr>
          <p:cNvSpPr/>
          <p:nvPr/>
        </p:nvSpPr>
        <p:spPr>
          <a:xfrm>
            <a:off x="6749143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Contratante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94E369E-9F6C-6BD3-BEB8-B0C8CE2F6FA2}"/>
              </a:ext>
            </a:extLst>
          </p:cNvPr>
          <p:cNvSpPr/>
          <p:nvPr/>
        </p:nvSpPr>
        <p:spPr>
          <a:xfrm>
            <a:off x="5546271" y="849082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Gestión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A52FE79-D48C-2541-DB30-2FC165C2EC7A}"/>
              </a:ext>
            </a:extLst>
          </p:cNvPr>
          <p:cNvSpPr/>
          <p:nvPr/>
        </p:nvSpPr>
        <p:spPr>
          <a:xfrm>
            <a:off x="8763000" y="838198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Perfiles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FB7E091-2E2E-F3AD-F32F-0F7B92C2E291}"/>
              </a:ext>
            </a:extLst>
          </p:cNvPr>
          <p:cNvSpPr/>
          <p:nvPr/>
        </p:nvSpPr>
        <p:spPr>
          <a:xfrm>
            <a:off x="7935663" y="838198"/>
            <a:ext cx="762000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/>
              <a:t>Cobranza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C54D1E2-AD6F-CD31-11EC-C705340209DF}"/>
              </a:ext>
            </a:extLst>
          </p:cNvPr>
          <p:cNvSpPr/>
          <p:nvPr/>
        </p:nvSpPr>
        <p:spPr>
          <a:xfrm>
            <a:off x="4457700" y="843642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Solicitación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F1BBB5-264C-D7FF-A88D-1B6770E59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756" y="228515"/>
            <a:ext cx="685896" cy="60968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65FDBF2B-637A-35F7-73DB-141DCDB86A3C}"/>
              </a:ext>
            </a:extLst>
          </p:cNvPr>
          <p:cNvSpPr/>
          <p:nvPr/>
        </p:nvSpPr>
        <p:spPr>
          <a:xfrm>
            <a:off x="3211309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Configuración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C790B98-A36C-5166-9B89-64DE4BF21A42}"/>
              </a:ext>
            </a:extLst>
          </p:cNvPr>
          <p:cNvSpPr/>
          <p:nvPr/>
        </p:nvSpPr>
        <p:spPr>
          <a:xfrm>
            <a:off x="9731852" y="838198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Póliza</a:t>
            </a:r>
          </a:p>
        </p:txBody>
      </p:sp>
    </p:spTree>
    <p:extLst>
      <p:ext uri="{BB962C8B-B14F-4D97-AF65-F5344CB8AC3E}">
        <p14:creationId xmlns:p14="http://schemas.microsoft.com/office/powerpoint/2010/main" val="1202564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7F93C-E292-E5A0-B2D2-0238ACDE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AF3FB9-9D47-9A3E-11C5-F232551AF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Configuración, en esta sección es para:</a:t>
            </a:r>
          </a:p>
          <a:p>
            <a:pPr lvl="1"/>
            <a:r>
              <a:rPr lang="es-MX" dirty="0"/>
              <a:t>Dar de alta al agente con los datos por aseguradora, hay que recordar que la clave de agente es por aseguradora</a:t>
            </a:r>
          </a:p>
          <a:p>
            <a:pPr lvl="1"/>
            <a:r>
              <a:rPr lang="es-MX" dirty="0"/>
              <a:t>En caso de que el agente tenga sub agentes y/o vendedores, se podrán dar de alta con la distribución de comisiones </a:t>
            </a:r>
          </a:p>
          <a:p>
            <a:pPr lvl="2"/>
            <a:r>
              <a:rPr lang="es-MX" dirty="0"/>
              <a:t>Hay que ponernos de acuerdo de hasta cuantos niveles</a:t>
            </a:r>
          </a:p>
          <a:p>
            <a:pPr lvl="1"/>
            <a:endParaRPr lang="es-MX" dirty="0"/>
          </a:p>
          <a:p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53BB7A0-95EC-3272-EFB6-800A9872A834}"/>
              </a:ext>
            </a:extLst>
          </p:cNvPr>
          <p:cNvSpPr/>
          <p:nvPr/>
        </p:nvSpPr>
        <p:spPr>
          <a:xfrm>
            <a:off x="6749143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Contratante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05BE069-225B-9865-4FE0-94B55A0C2903}"/>
              </a:ext>
            </a:extLst>
          </p:cNvPr>
          <p:cNvSpPr/>
          <p:nvPr/>
        </p:nvSpPr>
        <p:spPr>
          <a:xfrm>
            <a:off x="5573486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Gestión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700B0E5-A96F-3C7D-723A-77FB174313F2}"/>
              </a:ext>
            </a:extLst>
          </p:cNvPr>
          <p:cNvSpPr/>
          <p:nvPr/>
        </p:nvSpPr>
        <p:spPr>
          <a:xfrm>
            <a:off x="8763000" y="838200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Perfiles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5CF301C-CC25-5A88-E12D-3D8B7833A2A8}"/>
              </a:ext>
            </a:extLst>
          </p:cNvPr>
          <p:cNvSpPr/>
          <p:nvPr/>
        </p:nvSpPr>
        <p:spPr>
          <a:xfrm>
            <a:off x="7924801" y="838200"/>
            <a:ext cx="762000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/>
              <a:t>Cobranza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AAB202-1A43-1314-8880-1446A4C6132C}"/>
              </a:ext>
            </a:extLst>
          </p:cNvPr>
          <p:cNvSpPr/>
          <p:nvPr/>
        </p:nvSpPr>
        <p:spPr>
          <a:xfrm>
            <a:off x="4457700" y="843642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Solicitación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88EF0CA-C8D0-63F7-474E-8D1AD9CD0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756" y="228515"/>
            <a:ext cx="685896" cy="60968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6D11D29A-BC81-B2EB-E44A-14DEE59A5CE8}"/>
              </a:ext>
            </a:extLst>
          </p:cNvPr>
          <p:cNvSpPr/>
          <p:nvPr/>
        </p:nvSpPr>
        <p:spPr>
          <a:xfrm>
            <a:off x="3211309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Configuración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B219551-EA61-F558-D687-65E3F4CFDC33}"/>
              </a:ext>
            </a:extLst>
          </p:cNvPr>
          <p:cNvSpPr/>
          <p:nvPr/>
        </p:nvSpPr>
        <p:spPr>
          <a:xfrm>
            <a:off x="2808514" y="141514"/>
            <a:ext cx="1649186" cy="11321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noFill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175CA71-A55A-8A6B-2DE3-10B4C9A53F02}"/>
              </a:ext>
            </a:extLst>
          </p:cNvPr>
          <p:cNvSpPr/>
          <p:nvPr/>
        </p:nvSpPr>
        <p:spPr>
          <a:xfrm>
            <a:off x="9742714" y="838199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Póliza</a:t>
            </a:r>
          </a:p>
        </p:txBody>
      </p:sp>
    </p:spTree>
    <p:extLst>
      <p:ext uri="{BB962C8B-B14F-4D97-AF65-F5344CB8AC3E}">
        <p14:creationId xmlns:p14="http://schemas.microsoft.com/office/powerpoint/2010/main" val="4230635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8F19F-656E-A040-1E31-F401CEDC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DDD4A5-BEC7-4DD9-2366-6BA997677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Solicitación, en esta sección es para:</a:t>
            </a:r>
          </a:p>
          <a:p>
            <a:pPr lvl="1"/>
            <a:r>
              <a:rPr lang="es-MX" dirty="0"/>
              <a:t>Revisar las solicitudes en trámite</a:t>
            </a:r>
          </a:p>
          <a:p>
            <a:pPr lvl="1"/>
            <a:r>
              <a:rPr lang="es-MX" dirty="0"/>
              <a:t>Notificaciones</a:t>
            </a:r>
          </a:p>
          <a:p>
            <a:pPr lvl="1"/>
            <a:r>
              <a:rPr lang="es-MX" dirty="0"/>
              <a:t>Estatus del Folio de emisión</a:t>
            </a:r>
          </a:p>
          <a:p>
            <a:pPr lvl="1"/>
            <a:endParaRPr lang="es-MX" dirty="0"/>
          </a:p>
          <a:p>
            <a:r>
              <a:rPr lang="es-MX" dirty="0"/>
              <a:t>Dependiendo los perfiles, sería a nivel aseguradora, agente, promotor </a:t>
            </a:r>
            <a:r>
              <a:rPr lang="es-MX" dirty="0" err="1"/>
              <a:t>etc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E0E88E7-2CC7-8413-3E05-24A160693509}"/>
              </a:ext>
            </a:extLst>
          </p:cNvPr>
          <p:cNvSpPr/>
          <p:nvPr/>
        </p:nvSpPr>
        <p:spPr>
          <a:xfrm>
            <a:off x="6749143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Contratante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40A5F5-0C83-7EB0-6528-9EBC7C407954}"/>
              </a:ext>
            </a:extLst>
          </p:cNvPr>
          <p:cNvSpPr/>
          <p:nvPr/>
        </p:nvSpPr>
        <p:spPr>
          <a:xfrm>
            <a:off x="5573486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Gestión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4BD9A67-F86A-CEEB-C712-9D0250AA173D}"/>
              </a:ext>
            </a:extLst>
          </p:cNvPr>
          <p:cNvSpPr/>
          <p:nvPr/>
        </p:nvSpPr>
        <p:spPr>
          <a:xfrm>
            <a:off x="8763000" y="838200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Perfiles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CE5DA60-DD87-D42B-17E5-8F7AB71F55D7}"/>
              </a:ext>
            </a:extLst>
          </p:cNvPr>
          <p:cNvSpPr/>
          <p:nvPr/>
        </p:nvSpPr>
        <p:spPr>
          <a:xfrm>
            <a:off x="7924801" y="838200"/>
            <a:ext cx="762000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/>
              <a:t>Cobranza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001F685-B86F-CD05-D4AA-37699D812E2B}"/>
              </a:ext>
            </a:extLst>
          </p:cNvPr>
          <p:cNvSpPr/>
          <p:nvPr/>
        </p:nvSpPr>
        <p:spPr>
          <a:xfrm>
            <a:off x="4457700" y="843642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Solicitación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DFA722-CA78-638D-B87B-19D086060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756" y="228515"/>
            <a:ext cx="685896" cy="60968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BA3C150-EF59-54FC-425B-DC8487720AF7}"/>
              </a:ext>
            </a:extLst>
          </p:cNvPr>
          <p:cNvSpPr/>
          <p:nvPr/>
        </p:nvSpPr>
        <p:spPr>
          <a:xfrm>
            <a:off x="3211309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Configuración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A19624E-65EB-CFE6-B64A-EA93FED69970}"/>
              </a:ext>
            </a:extLst>
          </p:cNvPr>
          <p:cNvSpPr/>
          <p:nvPr/>
        </p:nvSpPr>
        <p:spPr>
          <a:xfrm>
            <a:off x="4386965" y="402771"/>
            <a:ext cx="1055893" cy="87085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noFill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B34E2C6-75A0-45A9-A4F7-8FE0FA51798E}"/>
              </a:ext>
            </a:extLst>
          </p:cNvPr>
          <p:cNvSpPr/>
          <p:nvPr/>
        </p:nvSpPr>
        <p:spPr>
          <a:xfrm>
            <a:off x="9742714" y="838199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Póliza</a:t>
            </a:r>
          </a:p>
        </p:txBody>
      </p:sp>
    </p:spTree>
    <p:extLst>
      <p:ext uri="{BB962C8B-B14F-4D97-AF65-F5344CB8AC3E}">
        <p14:creationId xmlns:p14="http://schemas.microsoft.com/office/powerpoint/2010/main" val="200529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F5C8C-2210-6478-D558-4934C1A6A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2770FA-DF2F-8B60-0839-0B88DB169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Estadisticas</a:t>
            </a:r>
            <a:r>
              <a:rPr lang="es-MX" dirty="0"/>
              <a:t> y </a:t>
            </a:r>
            <a:r>
              <a:rPr lang="es-MX" dirty="0" err="1"/>
              <a:t>Resumenes</a:t>
            </a:r>
            <a:r>
              <a:rPr lang="es-MX" dirty="0"/>
              <a:t> de resultados</a:t>
            </a:r>
          </a:p>
          <a:p>
            <a:r>
              <a:rPr lang="es-MX" dirty="0"/>
              <a:t>Presupuesto con proyección de renovaciones </a:t>
            </a:r>
          </a:p>
          <a:p>
            <a:r>
              <a:rPr lang="es-MX" dirty="0"/>
              <a:t>Ingresos</a:t>
            </a:r>
          </a:p>
          <a:p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4D1A7AC-457E-5019-6333-60634E91D212}"/>
              </a:ext>
            </a:extLst>
          </p:cNvPr>
          <p:cNvSpPr/>
          <p:nvPr/>
        </p:nvSpPr>
        <p:spPr>
          <a:xfrm>
            <a:off x="6749143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Contratante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310DF90-7573-6800-75E9-34284920EDE2}"/>
              </a:ext>
            </a:extLst>
          </p:cNvPr>
          <p:cNvSpPr/>
          <p:nvPr/>
        </p:nvSpPr>
        <p:spPr>
          <a:xfrm>
            <a:off x="5573486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Gestión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9F68635-C552-44EF-E0C8-DFAEAD8D1948}"/>
              </a:ext>
            </a:extLst>
          </p:cNvPr>
          <p:cNvSpPr/>
          <p:nvPr/>
        </p:nvSpPr>
        <p:spPr>
          <a:xfrm>
            <a:off x="8763000" y="838200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Perfiles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AAC7BC7-08CB-CF08-0F56-70930FB08176}"/>
              </a:ext>
            </a:extLst>
          </p:cNvPr>
          <p:cNvSpPr/>
          <p:nvPr/>
        </p:nvSpPr>
        <p:spPr>
          <a:xfrm>
            <a:off x="7924801" y="838200"/>
            <a:ext cx="762000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/>
              <a:t>Cobranza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46D3C35-C908-FDBB-0C84-A3906A96897E}"/>
              </a:ext>
            </a:extLst>
          </p:cNvPr>
          <p:cNvSpPr/>
          <p:nvPr/>
        </p:nvSpPr>
        <p:spPr>
          <a:xfrm>
            <a:off x="4457700" y="843642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Solicitación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C7C9A0-975A-4491-4DD4-D742D6FF8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756" y="228515"/>
            <a:ext cx="685896" cy="60968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D73F8A27-FA85-3365-E375-EF81DA64DA13}"/>
              </a:ext>
            </a:extLst>
          </p:cNvPr>
          <p:cNvSpPr/>
          <p:nvPr/>
        </p:nvSpPr>
        <p:spPr>
          <a:xfrm>
            <a:off x="3211309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Configuración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AC02BA-1E1A-316E-7256-90CD72069DCF}"/>
              </a:ext>
            </a:extLst>
          </p:cNvPr>
          <p:cNvSpPr/>
          <p:nvPr/>
        </p:nvSpPr>
        <p:spPr>
          <a:xfrm>
            <a:off x="5535396" y="386441"/>
            <a:ext cx="1148432" cy="9035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noFill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1585189-32B0-356F-BED8-2F49C88E27B1}"/>
              </a:ext>
            </a:extLst>
          </p:cNvPr>
          <p:cNvSpPr/>
          <p:nvPr/>
        </p:nvSpPr>
        <p:spPr>
          <a:xfrm>
            <a:off x="9742714" y="838199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Póliza</a:t>
            </a:r>
          </a:p>
        </p:txBody>
      </p:sp>
    </p:spTree>
    <p:extLst>
      <p:ext uri="{BB962C8B-B14F-4D97-AF65-F5344CB8AC3E}">
        <p14:creationId xmlns:p14="http://schemas.microsoft.com/office/powerpoint/2010/main" val="48249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7C9B1-53D3-F1EC-2562-6400FC0D4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8989F7-A53E-30BA-22FF-703AD4797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1"/>
            <a:ext cx="10515600" cy="4351338"/>
          </a:xfrm>
        </p:spPr>
        <p:txBody>
          <a:bodyPr/>
          <a:lstStyle/>
          <a:p>
            <a:r>
              <a:rPr lang="es-MX" dirty="0"/>
              <a:t>Datos del contratante, contacto y documentos del Contratante</a:t>
            </a:r>
          </a:p>
          <a:p>
            <a:r>
              <a:rPr lang="es-MX" dirty="0"/>
              <a:t>Relación de Pólizas </a:t>
            </a:r>
          </a:p>
          <a:p>
            <a:r>
              <a:rPr lang="es-MX" dirty="0"/>
              <a:t>Referido por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71A99E-B7D7-B045-B954-FF8446DC8EDE}"/>
              </a:ext>
            </a:extLst>
          </p:cNvPr>
          <p:cNvSpPr/>
          <p:nvPr/>
        </p:nvSpPr>
        <p:spPr>
          <a:xfrm>
            <a:off x="6749143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Contratante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C608DB8-98A7-9B12-6F88-C97D0A7C0BCA}"/>
              </a:ext>
            </a:extLst>
          </p:cNvPr>
          <p:cNvSpPr/>
          <p:nvPr/>
        </p:nvSpPr>
        <p:spPr>
          <a:xfrm>
            <a:off x="5573486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Gestión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B99EEF1-3423-BA92-682E-9C5653830E8B}"/>
              </a:ext>
            </a:extLst>
          </p:cNvPr>
          <p:cNvSpPr/>
          <p:nvPr/>
        </p:nvSpPr>
        <p:spPr>
          <a:xfrm>
            <a:off x="8763000" y="838200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Perfiles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C286572-1CC9-B0BF-A5F4-EECB519CB830}"/>
              </a:ext>
            </a:extLst>
          </p:cNvPr>
          <p:cNvSpPr/>
          <p:nvPr/>
        </p:nvSpPr>
        <p:spPr>
          <a:xfrm>
            <a:off x="7924801" y="838200"/>
            <a:ext cx="762000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/>
              <a:t>Cobranza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85D4F47-84DD-936C-48AD-B24DB198C01C}"/>
              </a:ext>
            </a:extLst>
          </p:cNvPr>
          <p:cNvSpPr/>
          <p:nvPr/>
        </p:nvSpPr>
        <p:spPr>
          <a:xfrm>
            <a:off x="4457700" y="843642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Solicitación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B2426A-7293-CA24-BD9E-A6746ADF2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756" y="228515"/>
            <a:ext cx="685896" cy="60968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FD78408F-7F02-E283-5254-854DFD880422}"/>
              </a:ext>
            </a:extLst>
          </p:cNvPr>
          <p:cNvSpPr/>
          <p:nvPr/>
        </p:nvSpPr>
        <p:spPr>
          <a:xfrm>
            <a:off x="3211309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Configuración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15E0B5B-D4E9-86C3-B3BA-19E5225C5694}"/>
              </a:ext>
            </a:extLst>
          </p:cNvPr>
          <p:cNvSpPr/>
          <p:nvPr/>
        </p:nvSpPr>
        <p:spPr>
          <a:xfrm>
            <a:off x="6781821" y="402770"/>
            <a:ext cx="1055893" cy="87085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noFill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FF1E154-9C7D-901B-673D-B5E6ED153D34}"/>
              </a:ext>
            </a:extLst>
          </p:cNvPr>
          <p:cNvSpPr/>
          <p:nvPr/>
        </p:nvSpPr>
        <p:spPr>
          <a:xfrm>
            <a:off x="9742714" y="838199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Póliza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AEC94D0-6DE1-8AF5-70A5-FBAF10203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528" y="2792589"/>
            <a:ext cx="6611273" cy="345805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2A1B31A-80CE-418D-BE5A-4B248CED7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3021188"/>
            <a:ext cx="6639852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0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07626-9198-FA0C-5660-F88CD295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009E76-2FF9-1897-8686-42FB53B40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253330"/>
            <a:ext cx="10580913" cy="4761027"/>
          </a:xfrm>
        </p:spPr>
        <p:txBody>
          <a:bodyPr>
            <a:normAutofit fontScale="62500" lnSpcReduction="20000"/>
          </a:bodyPr>
          <a:lstStyle/>
          <a:p>
            <a:r>
              <a:rPr lang="es-MX" sz="1800" dirty="0"/>
              <a:t>Deudor por Pirma, -30 a +30</a:t>
            </a:r>
          </a:p>
          <a:p>
            <a:pPr lvl="1"/>
            <a:r>
              <a:rPr lang="es-MX" sz="2500" dirty="0"/>
              <a:t>En color la prioridad del recibo (Rojo, naranja, verde y amarillo)</a:t>
            </a:r>
          </a:p>
          <a:p>
            <a:pPr lvl="1"/>
            <a:r>
              <a:rPr lang="es-MX" sz="2500" dirty="0"/>
              <a:t>Número de póliza</a:t>
            </a:r>
          </a:p>
          <a:p>
            <a:pPr lvl="1"/>
            <a:r>
              <a:rPr lang="es-MX" sz="2500" dirty="0" err="1"/>
              <a:t>Contratate</a:t>
            </a:r>
            <a:endParaRPr lang="es-MX" sz="2500" dirty="0"/>
          </a:p>
          <a:p>
            <a:pPr lvl="1"/>
            <a:r>
              <a:rPr lang="es-MX" sz="2500" dirty="0"/>
              <a:t>Conducto de cobro (Domiciliado o Agente)</a:t>
            </a:r>
          </a:p>
          <a:p>
            <a:pPr lvl="1"/>
            <a:r>
              <a:rPr lang="es-MX" sz="2500" dirty="0"/>
              <a:t>Fecha inicio de vigencia de la póliza</a:t>
            </a:r>
          </a:p>
          <a:p>
            <a:pPr lvl="1"/>
            <a:r>
              <a:rPr lang="es-MX" sz="2500" dirty="0"/>
              <a:t>Fecha de inicio de vigencia del recibo</a:t>
            </a:r>
          </a:p>
          <a:p>
            <a:pPr lvl="1"/>
            <a:r>
              <a:rPr lang="es-MX" sz="2500" dirty="0"/>
              <a:t>Recibo n/m</a:t>
            </a:r>
          </a:p>
          <a:p>
            <a:pPr lvl="1"/>
            <a:r>
              <a:rPr lang="es-MX" sz="2500" dirty="0"/>
              <a:t>Monto total al cobro</a:t>
            </a:r>
          </a:p>
          <a:p>
            <a:pPr lvl="1"/>
            <a:r>
              <a:rPr lang="es-MX" sz="2500" dirty="0"/>
              <a:t>Comisión</a:t>
            </a:r>
          </a:p>
          <a:p>
            <a:pPr lvl="1"/>
            <a:r>
              <a:rPr lang="es-MX" sz="2500" dirty="0"/>
              <a:t>Monto total pagado</a:t>
            </a:r>
          </a:p>
          <a:p>
            <a:r>
              <a:rPr lang="es-MX" sz="1800" dirty="0"/>
              <a:t>Pólizas Canceladas</a:t>
            </a:r>
          </a:p>
          <a:p>
            <a:pPr lvl="1"/>
            <a:r>
              <a:rPr lang="es-MX" dirty="0"/>
              <a:t>Número de póliza</a:t>
            </a:r>
          </a:p>
          <a:p>
            <a:pPr lvl="1"/>
            <a:r>
              <a:rPr lang="es-MX" dirty="0" err="1"/>
              <a:t>Contratate</a:t>
            </a:r>
            <a:endParaRPr lang="es-MX" dirty="0"/>
          </a:p>
          <a:p>
            <a:pPr lvl="1"/>
            <a:r>
              <a:rPr lang="es-MX" dirty="0"/>
              <a:t>Conducto de cobro (Domiciliado o Agente)</a:t>
            </a:r>
          </a:p>
          <a:p>
            <a:pPr lvl="1"/>
            <a:r>
              <a:rPr lang="es-MX" dirty="0"/>
              <a:t>Fecha inicio de vigencia de la póliza</a:t>
            </a:r>
          </a:p>
          <a:p>
            <a:pPr lvl="1"/>
            <a:r>
              <a:rPr lang="es-MX" dirty="0"/>
              <a:t>Fecha de inicio de vigencia del recibo</a:t>
            </a:r>
          </a:p>
          <a:p>
            <a:pPr lvl="1"/>
            <a:r>
              <a:rPr lang="es-MX" dirty="0"/>
              <a:t>Recibo n/m</a:t>
            </a:r>
          </a:p>
          <a:p>
            <a:pPr lvl="1"/>
            <a:r>
              <a:rPr lang="es-MX" dirty="0"/>
              <a:t>Monto total al cobro</a:t>
            </a:r>
          </a:p>
          <a:p>
            <a:pPr lvl="1"/>
            <a:r>
              <a:rPr lang="es-MX" dirty="0"/>
              <a:t>Monto total pagado</a:t>
            </a:r>
          </a:p>
          <a:p>
            <a:pPr lvl="1"/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AF6366C-A2D2-61E3-BF79-E1658022DE38}"/>
              </a:ext>
            </a:extLst>
          </p:cNvPr>
          <p:cNvSpPr/>
          <p:nvPr/>
        </p:nvSpPr>
        <p:spPr>
          <a:xfrm>
            <a:off x="6749143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Contratante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7D26A1-C6DA-073C-5B76-7451B216225B}"/>
              </a:ext>
            </a:extLst>
          </p:cNvPr>
          <p:cNvSpPr/>
          <p:nvPr/>
        </p:nvSpPr>
        <p:spPr>
          <a:xfrm>
            <a:off x="5573486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Gestión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F0F7A23-B339-BD2C-5A6A-C0BD89583798}"/>
              </a:ext>
            </a:extLst>
          </p:cNvPr>
          <p:cNvSpPr/>
          <p:nvPr/>
        </p:nvSpPr>
        <p:spPr>
          <a:xfrm>
            <a:off x="8763000" y="838200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Perfiles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EE61E20-DDE8-3C24-66A2-2414B3DD715A}"/>
              </a:ext>
            </a:extLst>
          </p:cNvPr>
          <p:cNvSpPr/>
          <p:nvPr/>
        </p:nvSpPr>
        <p:spPr>
          <a:xfrm>
            <a:off x="7924801" y="838200"/>
            <a:ext cx="762000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/>
              <a:t>Cobranza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0899ACA-73C2-E81A-D36F-DEE6BC008D6F}"/>
              </a:ext>
            </a:extLst>
          </p:cNvPr>
          <p:cNvSpPr/>
          <p:nvPr/>
        </p:nvSpPr>
        <p:spPr>
          <a:xfrm>
            <a:off x="4457700" y="843642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Solicitación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3C60C1-9660-D430-F4DC-405FE5259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756" y="228515"/>
            <a:ext cx="685896" cy="60968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AFF5BB0-952C-696E-C11C-E3531DF70B29}"/>
              </a:ext>
            </a:extLst>
          </p:cNvPr>
          <p:cNvSpPr/>
          <p:nvPr/>
        </p:nvSpPr>
        <p:spPr>
          <a:xfrm>
            <a:off x="3211309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Configuración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DD5E662-EC31-4F0E-CCFD-F0BB16E2584D}"/>
              </a:ext>
            </a:extLst>
          </p:cNvPr>
          <p:cNvSpPr/>
          <p:nvPr/>
        </p:nvSpPr>
        <p:spPr>
          <a:xfrm>
            <a:off x="7881236" y="653143"/>
            <a:ext cx="805565" cy="48989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noFill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EE3D1B3-6CE6-2F6C-9829-C2CD8D7EDE15}"/>
              </a:ext>
            </a:extLst>
          </p:cNvPr>
          <p:cNvSpPr/>
          <p:nvPr/>
        </p:nvSpPr>
        <p:spPr>
          <a:xfrm>
            <a:off x="9742714" y="838199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Póliza</a:t>
            </a:r>
          </a:p>
        </p:txBody>
      </p:sp>
    </p:spTree>
    <p:extLst>
      <p:ext uri="{BB962C8B-B14F-4D97-AF65-F5344CB8AC3E}">
        <p14:creationId xmlns:p14="http://schemas.microsoft.com/office/powerpoint/2010/main" val="1498534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2C94D-E08D-DCED-FB59-C0B1D49E5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C2909F-AF69-B83B-5425-BC4BF8513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253330"/>
            <a:ext cx="10580913" cy="4761027"/>
          </a:xfrm>
        </p:spPr>
        <p:txBody>
          <a:bodyPr>
            <a:normAutofit/>
          </a:bodyPr>
          <a:lstStyle/>
          <a:p>
            <a:r>
              <a:rPr lang="es-MX" sz="1800" dirty="0"/>
              <a:t>Pólizas</a:t>
            </a:r>
          </a:p>
          <a:p>
            <a:pPr lvl="1"/>
            <a:r>
              <a:rPr lang="es-MX" sz="1400" dirty="0"/>
              <a:t>Póliza Madre</a:t>
            </a:r>
          </a:p>
          <a:p>
            <a:pPr lvl="2"/>
            <a:r>
              <a:rPr lang="es-MX" sz="1000" dirty="0"/>
              <a:t>Renovación año x </a:t>
            </a:r>
          </a:p>
          <a:p>
            <a:pPr lvl="2"/>
            <a:r>
              <a:rPr lang="es-MX" sz="1000" dirty="0"/>
              <a:t>Renovación año y</a:t>
            </a:r>
          </a:p>
          <a:p>
            <a:pPr lvl="1"/>
            <a:r>
              <a:rPr lang="es-MX" sz="1400" dirty="0"/>
              <a:t>Referido</a:t>
            </a:r>
          </a:p>
          <a:p>
            <a:pPr lvl="1"/>
            <a:endParaRPr lang="es-MX" sz="1400"/>
          </a:p>
          <a:p>
            <a:pPr lvl="1"/>
            <a:endParaRPr lang="es-MX" sz="1400" dirty="0"/>
          </a:p>
          <a:p>
            <a:pPr lvl="1"/>
            <a:endParaRPr lang="es-MX" sz="1400" dirty="0"/>
          </a:p>
          <a:p>
            <a:pPr lvl="1"/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4345768-3FFB-A3E6-3BD0-0DBFF30232D7}"/>
              </a:ext>
            </a:extLst>
          </p:cNvPr>
          <p:cNvSpPr/>
          <p:nvPr/>
        </p:nvSpPr>
        <p:spPr>
          <a:xfrm>
            <a:off x="6749143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Contratante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EDA58C8-D545-976B-3DEA-612D4B3B0624}"/>
              </a:ext>
            </a:extLst>
          </p:cNvPr>
          <p:cNvSpPr/>
          <p:nvPr/>
        </p:nvSpPr>
        <p:spPr>
          <a:xfrm>
            <a:off x="5573486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Gestión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A79057-D0A6-ED4E-ED8C-D7388CE7C3D1}"/>
              </a:ext>
            </a:extLst>
          </p:cNvPr>
          <p:cNvSpPr/>
          <p:nvPr/>
        </p:nvSpPr>
        <p:spPr>
          <a:xfrm>
            <a:off x="8811976" y="838198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Perfiles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CEBB8E-FED2-6A44-66AF-E6EBEBAAC96C}"/>
              </a:ext>
            </a:extLst>
          </p:cNvPr>
          <p:cNvSpPr/>
          <p:nvPr/>
        </p:nvSpPr>
        <p:spPr>
          <a:xfrm>
            <a:off x="7924801" y="838200"/>
            <a:ext cx="762000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/>
              <a:t>Cobranza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4D59B44-6A23-7122-5598-6DD4745DC43D}"/>
              </a:ext>
            </a:extLst>
          </p:cNvPr>
          <p:cNvSpPr/>
          <p:nvPr/>
        </p:nvSpPr>
        <p:spPr>
          <a:xfrm>
            <a:off x="4457700" y="843642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Solicitación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B16A01-5CCE-7342-9782-35F4F4279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756" y="228515"/>
            <a:ext cx="685896" cy="60968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10ADAF7-9422-B1EA-4E87-887489AE6B14}"/>
              </a:ext>
            </a:extLst>
          </p:cNvPr>
          <p:cNvSpPr/>
          <p:nvPr/>
        </p:nvSpPr>
        <p:spPr>
          <a:xfrm>
            <a:off x="3211309" y="838200"/>
            <a:ext cx="1099457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Configuración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68372F-E13E-65E3-5A26-A8E30FBCB210}"/>
              </a:ext>
            </a:extLst>
          </p:cNvPr>
          <p:cNvSpPr/>
          <p:nvPr/>
        </p:nvSpPr>
        <p:spPr>
          <a:xfrm>
            <a:off x="9742714" y="838199"/>
            <a:ext cx="903515" cy="206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Póliza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5142C26-002F-46DF-1491-3E86365888F6}"/>
              </a:ext>
            </a:extLst>
          </p:cNvPr>
          <p:cNvSpPr/>
          <p:nvPr/>
        </p:nvSpPr>
        <p:spPr>
          <a:xfrm>
            <a:off x="9696434" y="757800"/>
            <a:ext cx="949795" cy="3765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760363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6704</TotalTime>
  <Words>285</Words>
  <Application>Microsoft Office PowerPoint</Application>
  <PresentationFormat>Panorámica</PresentationFormat>
  <Paragraphs>94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miggo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Esther</dc:creator>
  <cp:lastModifiedBy>María E Garza</cp:lastModifiedBy>
  <cp:revision>8</cp:revision>
  <dcterms:created xsi:type="dcterms:W3CDTF">2025-07-31T23:29:18Z</dcterms:created>
  <dcterms:modified xsi:type="dcterms:W3CDTF">2026-02-24T02:50:06Z</dcterms:modified>
</cp:coreProperties>
</file>